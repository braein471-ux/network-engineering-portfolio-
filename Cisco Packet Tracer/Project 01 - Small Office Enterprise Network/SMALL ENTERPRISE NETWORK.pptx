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58" r:id="rId3"/>
    <p:sldId id="259" r:id="rId4"/>
    <p:sldId id="261" r:id="rId5"/>
    <p:sldId id="262" r:id="rId6"/>
    <p:sldId id="263" r:id="rId7"/>
    <p:sldId id="264" r:id="rId8"/>
    <p:sldId id="265" r:id="rId9"/>
    <p:sldId id="266" r:id="rId10"/>
    <p:sldId id="267"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2AF3C6-ACAB-4141-8778-E8BDED88899D}" type="datetimeFigureOut">
              <a:rPr lang="en-US" smtClean="0"/>
              <a:t>7/26/2026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ADF75F-6208-4FE9-B90C-92850005518F}" type="slidenum">
              <a:rPr lang="en-US" smtClean="0"/>
              <a:t>‹#›</a:t>
            </a:fld>
            <a:endParaRPr lang="en-US" dirty="0"/>
          </a:p>
        </p:txBody>
      </p:sp>
    </p:spTree>
    <p:extLst>
      <p:ext uri="{BB962C8B-B14F-4D97-AF65-F5344CB8AC3E}">
        <p14:creationId xmlns:p14="http://schemas.microsoft.com/office/powerpoint/2010/main" val="2431637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ADF75F-6208-4FE9-B90C-92850005518F}" type="slidenum">
              <a:rPr lang="en-US" smtClean="0"/>
              <a:t>1</a:t>
            </a:fld>
            <a:endParaRPr lang="en-US" dirty="0"/>
          </a:p>
        </p:txBody>
      </p:sp>
    </p:spTree>
    <p:extLst>
      <p:ext uri="{BB962C8B-B14F-4D97-AF65-F5344CB8AC3E}">
        <p14:creationId xmlns:p14="http://schemas.microsoft.com/office/powerpoint/2010/main" val="2377537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6538E-E387-D7B2-3229-55A14D599F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F40550F-8A9D-5633-EED3-32654175F6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424B9B-FCE0-0FE4-2775-A21FCC03FC02}"/>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0B618A4F-5E9A-A76F-A077-5B88253528D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2D27290-B29C-4A13-34F3-5C519C961896}"/>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1561645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07661-6F92-CD97-F7A1-39C5E70F1E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32455E7-F9E8-EB7C-ED76-5F65CEE4D6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0921B1-6257-404C-4D20-86B4C7013845}"/>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62E1BB02-A28F-3240-A66A-DD9AE83278A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41824B9-BBBB-4C30-12F3-106491345BEF}"/>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19541847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477BD-1955-B298-BFA7-5092E5EFEDA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5E10603-CEAB-7953-E11D-7C925033F70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4D387B-0831-B4A4-7CD4-109D926F12AD}"/>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78D436CA-3D53-7044-6B8B-F51585A6899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05221A-5442-5BF3-7A65-4ADEBE8C4558}"/>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2761690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3B426-B60A-57D7-9B3C-EDA1D26F37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19F3D3-875A-2066-96D9-A03DD044E28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5C4A727-E625-7DE3-EFAD-297002F505D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241E918-E491-3CA7-2736-BCEE5E42DBF2}"/>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6" name="Footer Placeholder 5">
            <a:extLst>
              <a:ext uri="{FF2B5EF4-FFF2-40B4-BE49-F238E27FC236}">
                <a16:creationId xmlns:a16="http://schemas.microsoft.com/office/drawing/2014/main" id="{940FA9CA-D61B-254E-1FA7-B97729E1385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206A593-AA18-0F2B-9EC9-C3AFB87BEB0A}"/>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426135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B538-2E21-7B67-C696-0B662E3293D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B3EB588-F74F-CBFD-6FA3-AEA6ED758D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4A50F3-8354-D285-4969-86FDA66454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6E952E-4716-8FEC-2361-9C303BBD74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36C0CF-EA69-39BC-4E82-DDC47A90D3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86883B-296A-2404-2151-4041E917EC6D}"/>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8" name="Footer Placeholder 7">
            <a:extLst>
              <a:ext uri="{FF2B5EF4-FFF2-40B4-BE49-F238E27FC236}">
                <a16:creationId xmlns:a16="http://schemas.microsoft.com/office/drawing/2014/main" id="{370E2122-67D3-0788-238A-E51DDBBB1CF1}"/>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10F515A-2446-740B-A669-95BE78BF8140}"/>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1063657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C2632-0F8E-409B-97A8-EABCA4EBAF0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7C5FA81-F797-051E-0CE2-54E0712ACAEF}"/>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4" name="Footer Placeholder 3">
            <a:extLst>
              <a:ext uri="{FF2B5EF4-FFF2-40B4-BE49-F238E27FC236}">
                <a16:creationId xmlns:a16="http://schemas.microsoft.com/office/drawing/2014/main" id="{681F6367-3316-0139-A167-9651B76E7111}"/>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471F3D-E3F7-4205-B21E-01EEA3200508}"/>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3105141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5A7CE-6CDD-FB4E-459B-EEBAB5322106}"/>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3" name="Footer Placeholder 2">
            <a:extLst>
              <a:ext uri="{FF2B5EF4-FFF2-40B4-BE49-F238E27FC236}">
                <a16:creationId xmlns:a16="http://schemas.microsoft.com/office/drawing/2014/main" id="{190816B8-D497-F20F-3B06-5C202BD363D6}"/>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7C1C5E8-8B2E-3773-4B0B-EDA6337F64B8}"/>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695477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FE7B7-33F5-126A-B189-B0CC0D100E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B6B8AD2-E030-6982-FF28-EC7E20BB0A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A99A45-5EDD-D512-927A-E0A4AAE518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EF7FF5-FFB9-BA53-ABF2-3616603F8A0E}"/>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6" name="Footer Placeholder 5">
            <a:extLst>
              <a:ext uri="{FF2B5EF4-FFF2-40B4-BE49-F238E27FC236}">
                <a16:creationId xmlns:a16="http://schemas.microsoft.com/office/drawing/2014/main" id="{ADF200AC-5065-B6F8-71CA-B689F6210C4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A0D824C-F076-6DC6-C409-76B98DB336A9}"/>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23697914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242D6E-E571-85FA-7EFB-4E03938D73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B9D0585-5DE8-5383-680A-C294A20B31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a:extLst>
              <a:ext uri="{FF2B5EF4-FFF2-40B4-BE49-F238E27FC236}">
                <a16:creationId xmlns:a16="http://schemas.microsoft.com/office/drawing/2014/main" id="{DDA3FC3D-D1A3-CB98-091D-1315CEB981D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B8DA14-DD0A-E4EE-169E-AFCBC65D6F7E}"/>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6" name="Footer Placeholder 5">
            <a:extLst>
              <a:ext uri="{FF2B5EF4-FFF2-40B4-BE49-F238E27FC236}">
                <a16:creationId xmlns:a16="http://schemas.microsoft.com/office/drawing/2014/main" id="{9F230096-8D4C-514A-5462-115FB65BBDD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A31995A-9E15-A7EB-C66D-6D7EEC57377D}"/>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547965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0A414-787D-5CE0-CB9C-8338523A0BF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5DED36-2D05-22AA-A54D-A16E80FF4B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E0D33B-E1B5-ED60-9289-F22DD4822576}"/>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DC419B8A-A990-7519-0578-056F328309C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6DC0E50-F802-96BB-8A96-236181A3E67C}"/>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1639230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10C200-A930-9023-2F47-231EC3FB8D5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17A30A6-3280-E843-7D92-1E05F583E3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D05FB-B208-22EF-9B20-29DB3D47C43D}"/>
              </a:ext>
            </a:extLst>
          </p:cNvPr>
          <p:cNvSpPr>
            <a:spLocks noGrp="1"/>
          </p:cNvSpPr>
          <p:nvPr>
            <p:ph type="dt" sz="half" idx="10"/>
          </p:nvPr>
        </p:nvSpPr>
        <p:spPr/>
        <p:txBody>
          <a:body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A9A0EED8-B991-D348-0242-4724A909B6A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5A3DFCA-3921-6C0C-D3D4-81B1C818CF5A}"/>
              </a:ext>
            </a:extLst>
          </p:cNvPr>
          <p:cNvSpPr>
            <a:spLocks noGrp="1"/>
          </p:cNvSpPr>
          <p:nvPr>
            <p:ph type="sldNum" sz="quarter" idx="12"/>
          </p:nvPr>
        </p:nvSpPr>
        <p:spPr/>
        <p:txBody>
          <a:bodyPr/>
          <a:lstStyle/>
          <a:p>
            <a:fld id="{77AD869D-3B37-4396-81D2-07BF06D8A698}" type="slidenum">
              <a:rPr lang="en-US" smtClean="0"/>
              <a:t>‹#›</a:t>
            </a:fld>
            <a:endParaRPr lang="en-US" dirty="0"/>
          </a:p>
        </p:txBody>
      </p:sp>
    </p:spTree>
    <p:extLst>
      <p:ext uri="{BB962C8B-B14F-4D97-AF65-F5344CB8AC3E}">
        <p14:creationId xmlns:p14="http://schemas.microsoft.com/office/powerpoint/2010/main" val="23459730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9A468C1-ABB1-A50A-40D5-D5998B300F2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75B0F8F-9243-7C1A-BB94-7320664D8A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066861-F65F-DEFB-3519-AD91B6DC7DD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D957B3-56D1-4008-9DD2-53759A6A96D6}" type="datetimeFigureOut">
              <a:rPr lang="en-US" smtClean="0"/>
              <a:t>7/26/2026</a:t>
            </a:fld>
            <a:endParaRPr lang="en-US" dirty="0"/>
          </a:p>
        </p:txBody>
      </p:sp>
      <p:sp>
        <p:nvSpPr>
          <p:cNvPr id="5" name="Footer Placeholder 4">
            <a:extLst>
              <a:ext uri="{FF2B5EF4-FFF2-40B4-BE49-F238E27FC236}">
                <a16:creationId xmlns:a16="http://schemas.microsoft.com/office/drawing/2014/main" id="{D1BA9C7B-C372-51B0-E2A2-97A089D889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40AA3DE7-8D19-5651-8B58-F234CFC9E3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AD869D-3B37-4396-81D2-07BF06D8A698}" type="slidenum">
              <a:rPr lang="en-US" smtClean="0"/>
              <a:t>‹#›</a:t>
            </a:fld>
            <a:endParaRPr lang="en-US" dirty="0"/>
          </a:p>
        </p:txBody>
      </p:sp>
    </p:spTree>
    <p:extLst>
      <p:ext uri="{BB962C8B-B14F-4D97-AF65-F5344CB8AC3E}">
        <p14:creationId xmlns:p14="http://schemas.microsoft.com/office/powerpoint/2010/main" val="19160526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A8B35-9501-E244-EF38-A52DBD6195FA}"/>
              </a:ext>
            </a:extLst>
          </p:cNvPr>
          <p:cNvSpPr>
            <a:spLocks noGrp="1"/>
          </p:cNvSpPr>
          <p:nvPr>
            <p:ph type="title"/>
          </p:nvPr>
        </p:nvSpPr>
        <p:spPr>
          <a:xfrm>
            <a:off x="1856008" y="2676832"/>
            <a:ext cx="8466329" cy="752168"/>
          </a:xfrm>
        </p:spPr>
        <p:txBody>
          <a:bodyPr>
            <a:noAutofit/>
          </a:bodyPr>
          <a:lstStyle/>
          <a:p>
            <a:r>
              <a:rPr lang="en-US" sz="6000" dirty="0"/>
              <a:t>SMALL OFFICE NETWORK</a:t>
            </a:r>
          </a:p>
        </p:txBody>
      </p:sp>
      <p:sp>
        <p:nvSpPr>
          <p:cNvPr id="14" name="Title 1">
            <a:extLst>
              <a:ext uri="{FF2B5EF4-FFF2-40B4-BE49-F238E27FC236}">
                <a16:creationId xmlns:a16="http://schemas.microsoft.com/office/drawing/2014/main" id="{BD5C2779-B62C-3ABE-B44D-448BA19AAB19}"/>
              </a:ext>
            </a:extLst>
          </p:cNvPr>
          <p:cNvSpPr txBox="1">
            <a:spLocks/>
          </p:cNvSpPr>
          <p:nvPr/>
        </p:nvSpPr>
        <p:spPr>
          <a:xfrm>
            <a:off x="4916225" y="6237458"/>
            <a:ext cx="2713509" cy="352853"/>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000" b="1" dirty="0"/>
              <a:t>By Thabiso Matlala</a:t>
            </a:r>
          </a:p>
        </p:txBody>
      </p:sp>
      <p:sp>
        <p:nvSpPr>
          <p:cNvPr id="16" name="Title 1">
            <a:extLst>
              <a:ext uri="{FF2B5EF4-FFF2-40B4-BE49-F238E27FC236}">
                <a16:creationId xmlns:a16="http://schemas.microsoft.com/office/drawing/2014/main" id="{1859BA42-6383-1053-829D-6E4D01E5720B}"/>
              </a:ext>
            </a:extLst>
          </p:cNvPr>
          <p:cNvSpPr txBox="1">
            <a:spLocks/>
          </p:cNvSpPr>
          <p:nvPr/>
        </p:nvSpPr>
        <p:spPr>
          <a:xfrm>
            <a:off x="4185111" y="3664974"/>
            <a:ext cx="3821778" cy="412954"/>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r>
              <a:rPr lang="en-US" sz="2400" dirty="0"/>
              <a:t>Cisco Packet Tracer Project </a:t>
            </a:r>
          </a:p>
        </p:txBody>
      </p:sp>
      <p:sp>
        <p:nvSpPr>
          <p:cNvPr id="6" name="Flowchart: Connector 5">
            <a:extLst>
              <a:ext uri="{FF2B5EF4-FFF2-40B4-BE49-F238E27FC236}">
                <a16:creationId xmlns:a16="http://schemas.microsoft.com/office/drawing/2014/main" id="{F51A306B-9552-E4CD-937B-71363439082E}"/>
              </a:ext>
            </a:extLst>
          </p:cNvPr>
          <p:cNvSpPr/>
          <p:nvPr/>
        </p:nvSpPr>
        <p:spPr>
          <a:xfrm>
            <a:off x="11606981" y="6361711"/>
            <a:ext cx="457200" cy="457200"/>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t>
            </a:r>
          </a:p>
        </p:txBody>
      </p:sp>
      <p:pic>
        <p:nvPicPr>
          <p:cNvPr id="7" name="Picture 6" descr="Cisco Packet Tracer icon in iOS Filled Style">
            <a:extLst>
              <a:ext uri="{FF2B5EF4-FFF2-40B4-BE49-F238E27FC236}">
                <a16:creationId xmlns:a16="http://schemas.microsoft.com/office/drawing/2014/main" id="{8A41CFBD-9C78-5415-5B8C-A5C2A28DD72D}"/>
              </a:ext>
            </a:extLst>
          </p:cNvPr>
          <p:cNvPicPr>
            <a:picLocks noChangeAspect="1"/>
          </p:cNvPicPr>
          <p:nvPr/>
        </p:nvPicPr>
        <p:blipFill>
          <a:blip r:embed="rId3"/>
          <a:stretch>
            <a:fillRect/>
          </a:stretch>
        </p:blipFill>
        <p:spPr>
          <a:xfrm>
            <a:off x="5209799" y="4077928"/>
            <a:ext cx="1758746" cy="1758746"/>
          </a:xfrm>
          <a:prstGeom prst="rect">
            <a:avLst/>
          </a:prstGeom>
        </p:spPr>
      </p:pic>
    </p:spTree>
    <p:extLst>
      <p:ext uri="{BB962C8B-B14F-4D97-AF65-F5344CB8AC3E}">
        <p14:creationId xmlns:p14="http://schemas.microsoft.com/office/powerpoint/2010/main" val="1067478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208D3-A636-F3E9-01AF-8609528DB826}"/>
              </a:ext>
            </a:extLst>
          </p:cNvPr>
          <p:cNvSpPr>
            <a:spLocks noGrp="1"/>
          </p:cNvSpPr>
          <p:nvPr>
            <p:ph type="title"/>
          </p:nvPr>
        </p:nvSpPr>
        <p:spPr>
          <a:xfrm>
            <a:off x="839788" y="1474838"/>
            <a:ext cx="3932237" cy="582561"/>
          </a:xfrm>
        </p:spPr>
        <p:txBody>
          <a:bodyPr>
            <a:normAutofit/>
          </a:bodyPr>
          <a:lstStyle/>
          <a:p>
            <a:r>
              <a:rPr lang="en-US" dirty="0"/>
              <a:t>PROJECT OBJECTIVES</a:t>
            </a:r>
          </a:p>
        </p:txBody>
      </p:sp>
      <p:sp>
        <p:nvSpPr>
          <p:cNvPr id="4" name="Text Placeholder 3">
            <a:extLst>
              <a:ext uri="{FF2B5EF4-FFF2-40B4-BE49-F238E27FC236}">
                <a16:creationId xmlns:a16="http://schemas.microsoft.com/office/drawing/2014/main" id="{4114C445-CE58-8A82-27F4-E517A07715C9}"/>
              </a:ext>
            </a:extLst>
          </p:cNvPr>
          <p:cNvSpPr>
            <a:spLocks noGrp="1"/>
          </p:cNvSpPr>
          <p:nvPr>
            <p:ph type="body" sz="half" idx="2"/>
          </p:nvPr>
        </p:nvSpPr>
        <p:spPr>
          <a:xfrm>
            <a:off x="839788" y="2567089"/>
            <a:ext cx="10280496" cy="1600200"/>
          </a:xfrm>
        </p:spPr>
        <p:txBody>
          <a:bodyPr>
            <a:normAutofit lnSpcReduction="10000"/>
          </a:bodyPr>
          <a:lstStyle/>
          <a:p>
            <a:r>
              <a:rPr lang="en-US" dirty="0"/>
              <a:t>The objective of this project was to design and configure a small office network connecting two different departments using Cisco Packet Tracer.</a:t>
            </a:r>
          </a:p>
          <a:p>
            <a:r>
              <a:rPr lang="en-US" dirty="0"/>
              <a:t>The network was designed to allow communication between the Sales and Administration departments through a Cisco router using static IPv4 addressing.</a:t>
            </a:r>
          </a:p>
          <a:p>
            <a:r>
              <a:rPr lang="en-US" dirty="0"/>
              <a:t>This project demonstrates basic enterprise network design, IP addressing, router configuration, switch connectivity, and end-to-end communication.</a:t>
            </a:r>
          </a:p>
        </p:txBody>
      </p:sp>
    </p:spTree>
    <p:extLst>
      <p:ext uri="{BB962C8B-B14F-4D97-AF65-F5344CB8AC3E}">
        <p14:creationId xmlns:p14="http://schemas.microsoft.com/office/powerpoint/2010/main" val="4488766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F88AA-4A8D-0017-B100-2BF002DFB437}"/>
              </a:ext>
            </a:extLst>
          </p:cNvPr>
          <p:cNvSpPr>
            <a:spLocks noGrp="1"/>
          </p:cNvSpPr>
          <p:nvPr>
            <p:ph type="title"/>
          </p:nvPr>
        </p:nvSpPr>
        <p:spPr>
          <a:xfrm>
            <a:off x="839788" y="457200"/>
            <a:ext cx="4469631" cy="1600200"/>
          </a:xfrm>
        </p:spPr>
        <p:txBody>
          <a:bodyPr/>
          <a:lstStyle/>
          <a:p>
            <a:r>
              <a:rPr lang="en-US" dirty="0"/>
              <a:t>NETWORK TOPOLOGY</a:t>
            </a:r>
          </a:p>
        </p:txBody>
      </p:sp>
      <p:sp>
        <p:nvSpPr>
          <p:cNvPr id="4" name="Text Placeholder 3">
            <a:extLst>
              <a:ext uri="{FF2B5EF4-FFF2-40B4-BE49-F238E27FC236}">
                <a16:creationId xmlns:a16="http://schemas.microsoft.com/office/drawing/2014/main" id="{58C88F11-0A5C-688F-188C-C6C8013ADF3B}"/>
              </a:ext>
            </a:extLst>
          </p:cNvPr>
          <p:cNvSpPr>
            <a:spLocks noGrp="1"/>
          </p:cNvSpPr>
          <p:nvPr>
            <p:ph type="body" sz="half" idx="2"/>
          </p:nvPr>
        </p:nvSpPr>
        <p:spPr>
          <a:xfrm>
            <a:off x="839788" y="2057400"/>
            <a:ext cx="2894012" cy="3811588"/>
          </a:xfrm>
        </p:spPr>
        <p:txBody>
          <a:bodyPr/>
          <a:lstStyle/>
          <a:p>
            <a:r>
              <a:rPr lang="en-US" dirty="0"/>
              <a:t>The network consists of two separate Local Area Networks (LANs):Sales Department</a:t>
            </a:r>
          </a:p>
          <a:p>
            <a:r>
              <a:rPr lang="en-US" dirty="0"/>
              <a:t>Network: 192.168.10.0/24Connected to Sales-SW1</a:t>
            </a:r>
          </a:p>
          <a:p>
            <a:r>
              <a:rPr lang="en-US" dirty="0"/>
              <a:t>Administration Department</a:t>
            </a:r>
          </a:p>
          <a:p>
            <a:r>
              <a:rPr lang="en-US" dirty="0"/>
              <a:t>Network: 192.168.20.0/24Connected to Admin-SW2</a:t>
            </a:r>
          </a:p>
          <a:p>
            <a:r>
              <a:rPr lang="en-US" dirty="0"/>
              <a:t>Both switches connect to the HQ Router, which performs routing between the two networks.</a:t>
            </a:r>
          </a:p>
        </p:txBody>
      </p:sp>
      <p:pic>
        <p:nvPicPr>
          <p:cNvPr id="10" name="Picture 9">
            <a:extLst>
              <a:ext uri="{FF2B5EF4-FFF2-40B4-BE49-F238E27FC236}">
                <a16:creationId xmlns:a16="http://schemas.microsoft.com/office/drawing/2014/main" id="{2283A5F5-30D2-D127-ED45-D7040B1CDAE2}"/>
              </a:ext>
            </a:extLst>
          </p:cNvPr>
          <p:cNvPicPr>
            <a:picLocks noChangeAspect="1"/>
          </p:cNvPicPr>
          <p:nvPr/>
        </p:nvPicPr>
        <p:blipFill>
          <a:blip r:embed="rId2"/>
          <a:stretch>
            <a:fillRect/>
          </a:stretch>
        </p:blipFill>
        <p:spPr>
          <a:xfrm>
            <a:off x="3733800" y="2249129"/>
            <a:ext cx="8400244" cy="4033684"/>
          </a:xfrm>
          <a:prstGeom prst="rect">
            <a:avLst/>
          </a:prstGeom>
        </p:spPr>
      </p:pic>
    </p:spTree>
    <p:extLst>
      <p:ext uri="{BB962C8B-B14F-4D97-AF65-F5344CB8AC3E}">
        <p14:creationId xmlns:p14="http://schemas.microsoft.com/office/powerpoint/2010/main" val="26229568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C4A76-6CC4-13A0-EF52-666CF470CB5E}"/>
              </a:ext>
            </a:extLst>
          </p:cNvPr>
          <p:cNvSpPr>
            <a:spLocks noGrp="1"/>
          </p:cNvSpPr>
          <p:nvPr>
            <p:ph type="title"/>
          </p:nvPr>
        </p:nvSpPr>
        <p:spPr>
          <a:xfrm>
            <a:off x="838200" y="1578077"/>
            <a:ext cx="4176252" cy="540314"/>
          </a:xfrm>
        </p:spPr>
        <p:txBody>
          <a:bodyPr>
            <a:noAutofit/>
          </a:bodyPr>
          <a:lstStyle/>
          <a:p>
            <a:r>
              <a:rPr lang="en-US" sz="3200" dirty="0"/>
              <a:t>DEVICES USED</a:t>
            </a:r>
          </a:p>
        </p:txBody>
      </p:sp>
      <p:sp>
        <p:nvSpPr>
          <p:cNvPr id="4" name="TextBox 3">
            <a:extLst>
              <a:ext uri="{FF2B5EF4-FFF2-40B4-BE49-F238E27FC236}">
                <a16:creationId xmlns:a16="http://schemas.microsoft.com/office/drawing/2014/main" id="{5F1932C3-CAEE-57B0-19A4-8CA285A6C6A4}"/>
              </a:ext>
            </a:extLst>
          </p:cNvPr>
          <p:cNvSpPr txBox="1"/>
          <p:nvPr/>
        </p:nvSpPr>
        <p:spPr>
          <a:xfrm>
            <a:off x="838200" y="2251105"/>
            <a:ext cx="6098458" cy="2031325"/>
          </a:xfrm>
          <a:prstGeom prst="rect">
            <a:avLst/>
          </a:prstGeom>
          <a:noFill/>
        </p:spPr>
        <p:txBody>
          <a:bodyPr wrap="square">
            <a:spAutoFit/>
          </a:bodyPr>
          <a:lstStyle/>
          <a:p>
            <a:r>
              <a:rPr lang="en-US" dirty="0"/>
              <a:t>Devices Used</a:t>
            </a:r>
          </a:p>
          <a:p>
            <a:r>
              <a:rPr lang="en-US" dirty="0"/>
              <a:t>1 × Cisco 2911 Router</a:t>
            </a:r>
          </a:p>
          <a:p>
            <a:r>
              <a:rPr lang="en-US" dirty="0"/>
              <a:t>2 × Cisco Catalyst 2960 Switches</a:t>
            </a:r>
          </a:p>
          <a:p>
            <a:r>
              <a:rPr lang="en-US" dirty="0"/>
              <a:t>10 × Desktop PCs</a:t>
            </a:r>
          </a:p>
          <a:p>
            <a:r>
              <a:rPr lang="en-US" dirty="0"/>
              <a:t>1 × Server</a:t>
            </a:r>
          </a:p>
          <a:p>
            <a:r>
              <a:rPr lang="en-US" dirty="0"/>
              <a:t>Copper Straight-Through Ethernet Cables</a:t>
            </a:r>
          </a:p>
          <a:p>
            <a:r>
              <a:rPr lang="en-US" dirty="0"/>
              <a:t>Cisco Packet Tracer</a:t>
            </a:r>
          </a:p>
        </p:txBody>
      </p:sp>
    </p:spTree>
    <p:extLst>
      <p:ext uri="{BB962C8B-B14F-4D97-AF65-F5344CB8AC3E}">
        <p14:creationId xmlns:p14="http://schemas.microsoft.com/office/powerpoint/2010/main" val="8344203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BE8DE-BADA-D5BC-3BCC-C149DB65734C}"/>
              </a:ext>
            </a:extLst>
          </p:cNvPr>
          <p:cNvSpPr>
            <a:spLocks noGrp="1"/>
          </p:cNvSpPr>
          <p:nvPr>
            <p:ph type="title"/>
          </p:nvPr>
        </p:nvSpPr>
        <p:spPr>
          <a:xfrm>
            <a:off x="820993" y="1125139"/>
            <a:ext cx="4709652" cy="914401"/>
          </a:xfrm>
        </p:spPr>
        <p:txBody>
          <a:bodyPr>
            <a:normAutofit fontScale="90000"/>
          </a:bodyPr>
          <a:lstStyle/>
          <a:p>
            <a:r>
              <a:rPr lang="en-US" sz="3600" dirty="0"/>
              <a:t>IP ADDRESSING SCHEME</a:t>
            </a:r>
            <a:br>
              <a:rPr lang="en-US" sz="3200" dirty="0"/>
            </a:br>
            <a:endParaRPr lang="en-US" sz="3200" dirty="0"/>
          </a:p>
        </p:txBody>
      </p:sp>
      <p:sp>
        <p:nvSpPr>
          <p:cNvPr id="4" name="TextBox 3">
            <a:extLst>
              <a:ext uri="{FF2B5EF4-FFF2-40B4-BE49-F238E27FC236}">
                <a16:creationId xmlns:a16="http://schemas.microsoft.com/office/drawing/2014/main" id="{04807000-45D5-B0B6-F95F-8D63481299B9}"/>
              </a:ext>
            </a:extLst>
          </p:cNvPr>
          <p:cNvSpPr txBox="1"/>
          <p:nvPr/>
        </p:nvSpPr>
        <p:spPr>
          <a:xfrm>
            <a:off x="820993" y="1870869"/>
            <a:ext cx="6098458" cy="4801314"/>
          </a:xfrm>
          <a:prstGeom prst="rect">
            <a:avLst/>
          </a:prstGeom>
          <a:noFill/>
        </p:spPr>
        <p:txBody>
          <a:bodyPr wrap="square">
            <a:spAutoFit/>
          </a:bodyPr>
          <a:lstStyle/>
          <a:p>
            <a:r>
              <a:rPr lang="en-US" dirty="0"/>
              <a:t>SLIDE 5 – IP ADDRESSING SCHEME</a:t>
            </a:r>
          </a:p>
          <a:p>
            <a:endParaRPr lang="en-US" dirty="0"/>
          </a:p>
          <a:p>
            <a:r>
              <a:rPr lang="en-US" dirty="0"/>
              <a:t>Sales Department</a:t>
            </a:r>
          </a:p>
          <a:p>
            <a:r>
              <a:rPr lang="en-US" dirty="0"/>
              <a:t>Network Address: 192.168.10.0/24</a:t>
            </a:r>
          </a:p>
          <a:p>
            <a:r>
              <a:rPr lang="en-US" dirty="0"/>
              <a:t>Default Gateway: 192.168.10.1</a:t>
            </a:r>
          </a:p>
          <a:p>
            <a:r>
              <a:rPr lang="en-US" dirty="0"/>
              <a:t>Subnet Mask: 255.255.255.0</a:t>
            </a:r>
          </a:p>
          <a:p>
            <a:r>
              <a:rPr lang="en-US" dirty="0"/>
              <a:t>Server Address: 192.168.10.100</a:t>
            </a:r>
          </a:p>
          <a:p>
            <a:r>
              <a:rPr lang="en-US" dirty="0"/>
              <a:t>PC Address Range: 192.168.10.10 – 192.168.10.14</a:t>
            </a:r>
          </a:p>
          <a:p>
            <a:endParaRPr lang="en-US" dirty="0"/>
          </a:p>
          <a:p>
            <a:r>
              <a:rPr lang="en-US" dirty="0"/>
              <a:t>Administration Department</a:t>
            </a:r>
          </a:p>
          <a:p>
            <a:endParaRPr lang="en-US" dirty="0"/>
          </a:p>
          <a:p>
            <a:r>
              <a:rPr lang="en-US" dirty="0"/>
              <a:t>Network Address: 192.168.20.0/24</a:t>
            </a:r>
          </a:p>
          <a:p>
            <a:r>
              <a:rPr lang="en-US" dirty="0"/>
              <a:t>Default Gateway: 192.168.20.1</a:t>
            </a:r>
          </a:p>
          <a:p>
            <a:r>
              <a:rPr lang="en-US" dirty="0"/>
              <a:t>Subnet Mask: 255.255.255.0</a:t>
            </a:r>
          </a:p>
          <a:p>
            <a:r>
              <a:rPr lang="en-US" dirty="0"/>
              <a:t>PC Address Range: </a:t>
            </a:r>
          </a:p>
          <a:p>
            <a:r>
              <a:rPr lang="en-US" dirty="0"/>
              <a:t>192.168.20.10 – 192.168.20.14</a:t>
            </a:r>
          </a:p>
          <a:p>
            <a:r>
              <a:rPr lang="en-US" dirty="0"/>
              <a:t>All devices were configured using static IP addresses.</a:t>
            </a:r>
          </a:p>
        </p:txBody>
      </p:sp>
    </p:spTree>
    <p:extLst>
      <p:ext uri="{BB962C8B-B14F-4D97-AF65-F5344CB8AC3E}">
        <p14:creationId xmlns:p14="http://schemas.microsoft.com/office/powerpoint/2010/main" val="518970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027E7-D615-2A8A-AA8D-5BB4BBE90A51}"/>
              </a:ext>
            </a:extLst>
          </p:cNvPr>
          <p:cNvSpPr>
            <a:spLocks noGrp="1"/>
          </p:cNvSpPr>
          <p:nvPr>
            <p:ph type="title"/>
          </p:nvPr>
        </p:nvSpPr>
        <p:spPr>
          <a:xfrm>
            <a:off x="838200" y="1250028"/>
            <a:ext cx="4766187" cy="490281"/>
          </a:xfrm>
        </p:spPr>
        <p:txBody>
          <a:bodyPr>
            <a:noAutofit/>
          </a:bodyPr>
          <a:lstStyle/>
          <a:p>
            <a:r>
              <a:rPr lang="en-US" sz="3200" dirty="0"/>
              <a:t>ROUTER CONFIGURATION</a:t>
            </a:r>
          </a:p>
        </p:txBody>
      </p:sp>
      <p:sp>
        <p:nvSpPr>
          <p:cNvPr id="4" name="TextBox 3">
            <a:extLst>
              <a:ext uri="{FF2B5EF4-FFF2-40B4-BE49-F238E27FC236}">
                <a16:creationId xmlns:a16="http://schemas.microsoft.com/office/drawing/2014/main" id="{2CE4C925-14EF-2A7F-1CC1-307D212A4B74}"/>
              </a:ext>
            </a:extLst>
          </p:cNvPr>
          <p:cNvSpPr txBox="1"/>
          <p:nvPr/>
        </p:nvSpPr>
        <p:spPr>
          <a:xfrm>
            <a:off x="838200" y="2551837"/>
            <a:ext cx="6098458" cy="2308324"/>
          </a:xfrm>
          <a:prstGeom prst="rect">
            <a:avLst/>
          </a:prstGeom>
          <a:noFill/>
        </p:spPr>
        <p:txBody>
          <a:bodyPr wrap="square">
            <a:spAutoFit/>
          </a:bodyPr>
          <a:lstStyle/>
          <a:p>
            <a:r>
              <a:rPr lang="en-US" dirty="0"/>
              <a:t>Router Configuration Verification </a:t>
            </a:r>
          </a:p>
          <a:p>
            <a:r>
              <a:rPr lang="en-US" dirty="0"/>
              <a:t>The HQ Router was configured with two active Gigabit Ethernet interfaces.GigabitEthernet0/0IP </a:t>
            </a:r>
          </a:p>
          <a:p>
            <a:endParaRPr lang="en-US" dirty="0"/>
          </a:p>
          <a:p>
            <a:r>
              <a:rPr lang="en-US" dirty="0"/>
              <a:t>Address: 192.168.10.1 Status: Up GigabitEthernet0/1IP Address: 192.168.20.1 Status: Up</a:t>
            </a:r>
          </a:p>
          <a:p>
            <a:endParaRPr lang="en-US" dirty="0"/>
          </a:p>
          <a:p>
            <a:r>
              <a:rPr lang="en-US" dirty="0"/>
              <a:t>These interfaces act as the default gateways for both LANs.</a:t>
            </a:r>
          </a:p>
        </p:txBody>
      </p:sp>
    </p:spTree>
    <p:extLst>
      <p:ext uri="{BB962C8B-B14F-4D97-AF65-F5344CB8AC3E}">
        <p14:creationId xmlns:p14="http://schemas.microsoft.com/office/powerpoint/2010/main" val="2755417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08565-05F3-A7D1-51BB-4C35D9B188D9}"/>
              </a:ext>
            </a:extLst>
          </p:cNvPr>
          <p:cNvSpPr>
            <a:spLocks noGrp="1"/>
          </p:cNvSpPr>
          <p:nvPr>
            <p:ph type="title"/>
          </p:nvPr>
        </p:nvSpPr>
        <p:spPr>
          <a:xfrm>
            <a:off x="838200" y="1220531"/>
            <a:ext cx="3689555" cy="608269"/>
          </a:xfrm>
        </p:spPr>
        <p:txBody>
          <a:bodyPr>
            <a:normAutofit/>
          </a:bodyPr>
          <a:lstStyle/>
          <a:p>
            <a:r>
              <a:rPr lang="en-US" sz="3200" dirty="0"/>
              <a:t>CONNECTIVITY TEST</a:t>
            </a:r>
          </a:p>
        </p:txBody>
      </p:sp>
      <p:sp>
        <p:nvSpPr>
          <p:cNvPr id="4" name="TextBox 3">
            <a:extLst>
              <a:ext uri="{FF2B5EF4-FFF2-40B4-BE49-F238E27FC236}">
                <a16:creationId xmlns:a16="http://schemas.microsoft.com/office/drawing/2014/main" id="{485EF479-3AC2-C0D0-3E6A-248D563118F7}"/>
              </a:ext>
            </a:extLst>
          </p:cNvPr>
          <p:cNvSpPr txBox="1"/>
          <p:nvPr/>
        </p:nvSpPr>
        <p:spPr>
          <a:xfrm>
            <a:off x="838200" y="2413337"/>
            <a:ext cx="6098458" cy="3970318"/>
          </a:xfrm>
          <a:prstGeom prst="rect">
            <a:avLst/>
          </a:prstGeom>
          <a:noFill/>
        </p:spPr>
        <p:txBody>
          <a:bodyPr wrap="square">
            <a:spAutoFit/>
          </a:bodyPr>
          <a:lstStyle/>
          <a:p>
            <a:r>
              <a:rPr lang="en-US" dirty="0"/>
              <a:t>Connectivity Verification </a:t>
            </a:r>
          </a:p>
          <a:p>
            <a:endParaRPr lang="en-US" dirty="0"/>
          </a:p>
          <a:p>
            <a:r>
              <a:rPr lang="en-US" dirty="0"/>
              <a:t>Several ping tests were performed to verify network communication.</a:t>
            </a:r>
          </a:p>
          <a:p>
            <a:endParaRPr lang="en-US" dirty="0"/>
          </a:p>
          <a:p>
            <a:r>
              <a:rPr lang="en-US" dirty="0"/>
              <a:t>Tests included:</a:t>
            </a:r>
          </a:p>
          <a:p>
            <a:endParaRPr lang="en-US" dirty="0"/>
          </a:p>
          <a:p>
            <a:pPr marL="285750" indent="-285750">
              <a:buFont typeface="Arial" panose="020B0604020202020204" pitchFamily="34" charset="0"/>
              <a:buChar char="•"/>
            </a:pPr>
            <a:r>
              <a:rPr lang="en-US" dirty="0"/>
              <a:t> PC to Default Gateway</a:t>
            </a:r>
          </a:p>
          <a:p>
            <a:pPr marL="285750" indent="-285750">
              <a:buFont typeface="Arial" panose="020B0604020202020204" pitchFamily="34" charset="0"/>
              <a:buChar char="•"/>
            </a:pPr>
            <a:r>
              <a:rPr lang="en-US" dirty="0"/>
              <a:t>PC to Server</a:t>
            </a:r>
          </a:p>
          <a:p>
            <a:pPr marL="285750" indent="-285750">
              <a:buFont typeface="Arial" panose="020B0604020202020204" pitchFamily="34" charset="0"/>
              <a:buChar char="•"/>
            </a:pPr>
            <a:r>
              <a:rPr lang="en-US" dirty="0"/>
              <a:t>Sales Department to Administration Department</a:t>
            </a:r>
          </a:p>
          <a:p>
            <a:pPr marL="285750" indent="-285750">
              <a:buFont typeface="Arial" panose="020B0604020202020204" pitchFamily="34" charset="0"/>
              <a:buChar char="•"/>
            </a:pPr>
            <a:r>
              <a:rPr lang="en-US" dirty="0"/>
              <a:t>Administration Department to Sales Department </a:t>
            </a:r>
          </a:p>
          <a:p>
            <a:endParaRPr lang="en-US" dirty="0"/>
          </a:p>
          <a:p>
            <a:r>
              <a:rPr lang="en-US" dirty="0"/>
              <a:t>All connectivity tests were successful, confirming that routing between both networks was working correctly.</a:t>
            </a:r>
          </a:p>
        </p:txBody>
      </p:sp>
    </p:spTree>
    <p:extLst>
      <p:ext uri="{BB962C8B-B14F-4D97-AF65-F5344CB8AC3E}">
        <p14:creationId xmlns:p14="http://schemas.microsoft.com/office/powerpoint/2010/main" val="13298758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A5B1F9-28A3-F8BF-DCA9-D5C9A416470B}"/>
              </a:ext>
            </a:extLst>
          </p:cNvPr>
          <p:cNvSpPr>
            <a:spLocks noGrp="1"/>
          </p:cNvSpPr>
          <p:nvPr>
            <p:ph type="title"/>
          </p:nvPr>
        </p:nvSpPr>
        <p:spPr>
          <a:xfrm>
            <a:off x="838200" y="1224116"/>
            <a:ext cx="4780935" cy="466572"/>
          </a:xfrm>
        </p:spPr>
        <p:txBody>
          <a:bodyPr>
            <a:noAutofit/>
          </a:bodyPr>
          <a:lstStyle/>
          <a:p>
            <a:r>
              <a:rPr lang="en-US" sz="3200" dirty="0"/>
              <a:t>SKILLS DEMONSTRATED</a:t>
            </a:r>
          </a:p>
        </p:txBody>
      </p:sp>
      <p:sp>
        <p:nvSpPr>
          <p:cNvPr id="4" name="TextBox 3">
            <a:extLst>
              <a:ext uri="{FF2B5EF4-FFF2-40B4-BE49-F238E27FC236}">
                <a16:creationId xmlns:a16="http://schemas.microsoft.com/office/drawing/2014/main" id="{9AF00D77-3432-71EE-F0B1-FA09A5EB92A9}"/>
              </a:ext>
            </a:extLst>
          </p:cNvPr>
          <p:cNvSpPr txBox="1"/>
          <p:nvPr/>
        </p:nvSpPr>
        <p:spPr>
          <a:xfrm>
            <a:off x="838200" y="2274838"/>
            <a:ext cx="6098458" cy="2308324"/>
          </a:xfrm>
          <a:prstGeom prst="rect">
            <a:avLst/>
          </a:prstGeom>
          <a:noFill/>
        </p:spPr>
        <p:txBody>
          <a:bodyPr wrap="square">
            <a:spAutoFit/>
          </a:bodyPr>
          <a:lstStyle/>
          <a:p>
            <a:r>
              <a:rPr lang="en-US" dirty="0"/>
              <a:t>Router Configuration✔️</a:t>
            </a:r>
          </a:p>
          <a:p>
            <a:r>
              <a:rPr lang="en-US" dirty="0"/>
              <a:t> Switch Configuration✔️</a:t>
            </a:r>
          </a:p>
          <a:p>
            <a:r>
              <a:rPr lang="en-US" dirty="0"/>
              <a:t> Static IPv4 Addressing✔️</a:t>
            </a:r>
          </a:p>
          <a:p>
            <a:r>
              <a:rPr lang="en-US" dirty="0"/>
              <a:t> Default Gateway Configuration✔️</a:t>
            </a:r>
          </a:p>
          <a:p>
            <a:r>
              <a:rPr lang="en-US" dirty="0"/>
              <a:t> Network Planning✔️</a:t>
            </a:r>
          </a:p>
          <a:p>
            <a:r>
              <a:rPr lang="en-US" dirty="0"/>
              <a:t> Basic Troubleshooting✔️</a:t>
            </a:r>
          </a:p>
          <a:p>
            <a:r>
              <a:rPr lang="en-US" dirty="0"/>
              <a:t> End-to-End Connectivity Testing✔️ </a:t>
            </a:r>
          </a:p>
          <a:p>
            <a:r>
              <a:rPr lang="en-US" dirty="0"/>
              <a:t>Cisco IOS Command Line (CLI) ✔️</a:t>
            </a:r>
          </a:p>
        </p:txBody>
      </p:sp>
    </p:spTree>
    <p:extLst>
      <p:ext uri="{BB962C8B-B14F-4D97-AF65-F5344CB8AC3E}">
        <p14:creationId xmlns:p14="http://schemas.microsoft.com/office/powerpoint/2010/main" val="2033738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2F73A-B4BF-4E94-791F-5A8806EEB423}"/>
              </a:ext>
            </a:extLst>
          </p:cNvPr>
          <p:cNvSpPr>
            <a:spLocks noGrp="1"/>
          </p:cNvSpPr>
          <p:nvPr>
            <p:ph type="title"/>
          </p:nvPr>
        </p:nvSpPr>
        <p:spPr>
          <a:xfrm>
            <a:off x="838200" y="1297858"/>
            <a:ext cx="3114368" cy="392830"/>
          </a:xfrm>
        </p:spPr>
        <p:txBody>
          <a:bodyPr>
            <a:noAutofit/>
          </a:bodyPr>
          <a:lstStyle/>
          <a:p>
            <a:r>
              <a:rPr lang="en-US" sz="3200" dirty="0"/>
              <a:t>REFLECTION</a:t>
            </a:r>
          </a:p>
        </p:txBody>
      </p:sp>
      <p:sp>
        <p:nvSpPr>
          <p:cNvPr id="4" name="TextBox 3">
            <a:extLst>
              <a:ext uri="{FF2B5EF4-FFF2-40B4-BE49-F238E27FC236}">
                <a16:creationId xmlns:a16="http://schemas.microsoft.com/office/drawing/2014/main" id="{CCDC1D68-F5FC-4030-6BB7-138F07932C86}"/>
              </a:ext>
            </a:extLst>
          </p:cNvPr>
          <p:cNvSpPr txBox="1"/>
          <p:nvPr/>
        </p:nvSpPr>
        <p:spPr>
          <a:xfrm>
            <a:off x="838200" y="2127354"/>
            <a:ext cx="8777748" cy="1477328"/>
          </a:xfrm>
          <a:prstGeom prst="rect">
            <a:avLst/>
          </a:prstGeom>
          <a:noFill/>
        </p:spPr>
        <p:txBody>
          <a:bodyPr wrap="square">
            <a:spAutoFit/>
          </a:bodyPr>
          <a:lstStyle/>
          <a:p>
            <a:r>
              <a:rPr lang="en-US" dirty="0"/>
              <a:t>This project helped me understand how routers connect multiple networks and how switches provide connectivity within a Local Area Network. I learned how to configure static IP addresses, verify connectivity using ping commands, and troubleshoot common networking problems. The project also improved my confidence in using Cisco IOS commands and designing basic enterprise networks. </a:t>
            </a:r>
          </a:p>
        </p:txBody>
      </p:sp>
    </p:spTree>
    <p:extLst>
      <p:ext uri="{BB962C8B-B14F-4D97-AF65-F5344CB8AC3E}">
        <p14:creationId xmlns:p14="http://schemas.microsoft.com/office/powerpoint/2010/main" val="34620602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4C78D-3986-CCDA-A297-22C0C44904D6}"/>
              </a:ext>
            </a:extLst>
          </p:cNvPr>
          <p:cNvSpPr>
            <a:spLocks noGrp="1"/>
          </p:cNvSpPr>
          <p:nvPr>
            <p:ph type="title"/>
          </p:nvPr>
        </p:nvSpPr>
        <p:spPr/>
        <p:txBody>
          <a:bodyPr>
            <a:normAutofit/>
          </a:bodyPr>
          <a:lstStyle/>
          <a:p>
            <a:r>
              <a:rPr lang="en-US" sz="3200" dirty="0"/>
              <a:t>CHALLENGES ENCOUNTERED &amp; LESSONS LEARNED</a:t>
            </a:r>
          </a:p>
        </p:txBody>
      </p:sp>
      <p:sp>
        <p:nvSpPr>
          <p:cNvPr id="4" name="TextBox 3">
            <a:extLst>
              <a:ext uri="{FF2B5EF4-FFF2-40B4-BE49-F238E27FC236}">
                <a16:creationId xmlns:a16="http://schemas.microsoft.com/office/drawing/2014/main" id="{D0FA1E80-80E0-9995-9DA1-DEDDA219A2B2}"/>
              </a:ext>
            </a:extLst>
          </p:cNvPr>
          <p:cNvSpPr txBox="1"/>
          <p:nvPr/>
        </p:nvSpPr>
        <p:spPr>
          <a:xfrm>
            <a:off x="838199" y="2136338"/>
            <a:ext cx="10515599" cy="1477328"/>
          </a:xfrm>
          <a:prstGeom prst="rect">
            <a:avLst/>
          </a:prstGeom>
          <a:noFill/>
        </p:spPr>
        <p:txBody>
          <a:bodyPr wrap="square">
            <a:spAutoFit/>
          </a:bodyPr>
          <a:lstStyle/>
          <a:p>
            <a:r>
              <a:rPr lang="en-US" dirty="0"/>
              <a:t>During the project I experienced several networking challenges, including incorrect cabling, VLAN configuration mistakes, and troubleshooting connectivity issues. By systematically checking router interfaces, switch ports, IP addressing, and cable connections, I was able to identify and resolve these issues. This experience reinforced the importance of patience, verification, and structured troubleshooting in network administration.</a:t>
            </a:r>
          </a:p>
        </p:txBody>
      </p:sp>
    </p:spTree>
    <p:extLst>
      <p:ext uri="{BB962C8B-B14F-4D97-AF65-F5344CB8AC3E}">
        <p14:creationId xmlns:p14="http://schemas.microsoft.com/office/powerpoint/2010/main" val="4182302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819</TotalTime>
  <Words>481</Words>
  <Application>Microsoft Office PowerPoint</Application>
  <PresentationFormat>Widescreen</PresentationFormat>
  <Paragraphs>74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SMALL OFFICE NETWORK</vt:lpstr>
      <vt:lpstr>PROJECT OBJECTIVES</vt:lpstr>
      <vt:lpstr>NETWORK TOPOLOGY</vt:lpstr>
      <vt:lpstr>DEVICES USED</vt:lpstr>
      <vt:lpstr>IP ADDRESSING SCHEME </vt:lpstr>
      <vt:lpstr>ROUTER CONFIGURATION</vt:lpstr>
      <vt:lpstr>CONNECTIVITY TEST</vt:lpstr>
      <vt:lpstr>SKILLS DEMONSTRATED</vt:lpstr>
      <vt:lpstr>REFLECTION</vt:lpstr>
      <vt:lpstr>CHALLENGES ENCOUNTERED &amp; LESSONS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Mmabatho Manogo</dc:creator>
  <cp:lastModifiedBy>Mmabatho Manogo</cp:lastModifiedBy>
  <cp:revision>3</cp:revision>
  <dcterms:created xsi:type="dcterms:W3CDTF">2026-07-21T05:13:30Z</dcterms:created>
  <dcterms:modified xsi:type="dcterms:W3CDTF">2026-07-26T11:15:09Z</dcterms:modified>
</cp:coreProperties>
</file>